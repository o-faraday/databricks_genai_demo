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A58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 Engagement 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2606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A5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TechCorp Solutions × DataFlow Inc.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1148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2025  |  Prepared by: Sarah Chen, Engagement Lead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5A7FA8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21031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ai_parse_document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File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5A7FA8"/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1179576"/>
            <a:ext cx="475488" cy="475488"/>
          </a:xfrm>
          <a:prstGeom prst="ellipse">
            <a:avLst/>
          </a:prstGeom>
          <a:solidFill>
            <a:srgbClr val="1C355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179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4447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KPIs and outcomes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929384"/>
            <a:ext cx="475488" cy="475488"/>
          </a:xfrm>
          <a:prstGeom prst="ellipse">
            <a:avLst/>
          </a:prstGeom>
          <a:solidFill>
            <a:srgbClr val="1C3557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929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8928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Performance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194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and delivery metrics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679192"/>
            <a:ext cx="475488" cy="475488"/>
          </a:xfrm>
          <a:prstGeom prst="ellipse">
            <a:avLst/>
          </a:prstGeom>
          <a:solidFill>
            <a:srgbClr val="1C3557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679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6426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Breakdown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944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detail by service line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429000"/>
            <a:ext cx="475488" cy="475488"/>
          </a:xfrm>
          <a:prstGeom prst="ellipse">
            <a:avLst/>
          </a:prstGeom>
          <a:solidFill>
            <a:srgbClr val="1C3557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429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3924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Satisfaction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6941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and satisfaction scores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4178808"/>
            <a:ext cx="475488" cy="475488"/>
          </a:xfrm>
          <a:prstGeom prst="ellipse">
            <a:avLst/>
          </a:prstGeom>
          <a:solidFill>
            <a:srgbClr val="1C3557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178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4142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Roadmap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444398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milestones &amp; priorities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 at a glance — all key targets met or exceeded.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1920240" cy="3383280"/>
          </a:xfrm>
          <a:prstGeom prst="rect">
            <a:avLst/>
          </a:prstGeom>
          <a:solidFill>
            <a:srgbClr val="1C3557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8288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$38,138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2834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3474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>
                    <a:alpha val="75000"/>
                  </a:srgbClr>
                </a:solidFill>
              </a:rPr>
              <a:t>+12% vs Q4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280160"/>
            <a:ext cx="1920240" cy="3383280"/>
          </a:xfrm>
          <a:prstGeom prst="rect">
            <a:avLst/>
          </a:prstGeom>
          <a:solidFill>
            <a:srgbClr val="2CA58D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8288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145 / 148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2834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Story Points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Delivered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3474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>
                    <a:alpha val="75000"/>
                  </a:srgbClr>
                </a:solidFill>
              </a:rPr>
              <a:t>98% velocity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280160"/>
            <a:ext cx="1920240" cy="3383280"/>
          </a:xfrm>
          <a:prstGeom prst="rect">
            <a:avLst/>
          </a:prstGeom>
          <a:solidFill>
            <a:srgbClr val="5A7FA8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8288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4.75 / 5.0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17720" y="2834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Satisfaction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3474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>
                    <a:alpha val="75000"/>
                  </a:srgbClr>
                </a:solidFill>
              </a:rPr>
              <a:t>+0.3 pts QoQ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280160"/>
            <a:ext cx="1920240" cy="3383280"/>
          </a:xfrm>
          <a:prstGeom prst="rect">
            <a:avLst/>
          </a:prstGeom>
          <a:solidFill>
            <a:srgbClr val="E05C4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8288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66560" y="28346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Critical Defects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Post-Deploy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3474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>
                    <a:alpha val="75000"/>
                  </a:srgbClr>
                </a:solidFill>
              </a:rPr>
              <a:t>All SLAs met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Performance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Sprint-by-sprint delivery velocity and quality metrics.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474720"/>
        </p:xfrm>
        <a:graphic>
          <a:graphicData uri="http://schemas.openxmlformats.org/drawingml/2006/table">
            <a:tbl>
              <a:tblPr/>
              <a:tblGrid>
                <a:gridCol w="2194560"/>
                <a:gridCol w="1417320"/>
                <a:gridCol w="1691640"/>
                <a:gridCol w="1417320"/>
                <a:gridCol w="1508760"/>
              </a:tblGrid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Velocity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5 (Jan)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6 (Feb)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7 (Feb-Mar)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8 (Mar)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Total /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8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3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Breakdown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0" y="1097280"/>
            <a:ext cx="4114800" cy="502920"/>
          </a:xfrm>
          <a:prstGeom prst="rect">
            <a:avLst/>
          </a:prstGeom>
          <a:solidFill>
            <a:srgbClr val="DDE8F5"/>
          </a:solidFill>
          <a:ln/>
        </p:spPr>
      </p:sp>
      <p:sp>
        <p:nvSpPr>
          <p:cNvPr id="4" name="Shape 2"/>
          <p:cNvSpPr/>
          <p:nvPr/>
        </p:nvSpPr>
        <p:spPr>
          <a:xfrm>
            <a:off x="3840480" y="1097280"/>
            <a:ext cx="1563624" cy="50292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Pipeline Development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1A8"/>
                </a:solidFill>
              </a:rPr>
              <a:t>12 days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0" y="11155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38%  $14,400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0" y="1874520"/>
            <a:ext cx="4114800" cy="502920"/>
          </a:xfrm>
          <a:prstGeom prst="rect">
            <a:avLst/>
          </a:prstGeom>
          <a:solidFill>
            <a:srgbClr val="DDE8F5"/>
          </a:solidFill>
          <a:ln/>
        </p:spPr>
      </p:sp>
      <p:sp>
        <p:nvSpPr>
          <p:cNvPr id="9" name="Shape 7"/>
          <p:cNvSpPr/>
          <p:nvPr/>
        </p:nvSpPr>
        <p:spPr>
          <a:xfrm>
            <a:off x="3840480" y="1874520"/>
            <a:ext cx="1193292" cy="502920"/>
          </a:xfrm>
          <a:prstGeom prst="rect">
            <a:avLst/>
          </a:prstGeom>
          <a:solidFill>
            <a:srgbClr val="2CA58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8308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Deployment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1A8"/>
                </a:solidFill>
              </a:rPr>
              <a:t>8 days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0" y="18928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29%  $11,200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0" y="2651760"/>
            <a:ext cx="4114800" cy="502920"/>
          </a:xfrm>
          <a:prstGeom prst="rect">
            <a:avLst/>
          </a:prstGeom>
          <a:solidFill>
            <a:srgbClr val="DDE8F5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0" y="2651760"/>
            <a:ext cx="658368" cy="502920"/>
          </a:xfrm>
          <a:prstGeom prst="rect">
            <a:avLst/>
          </a:prstGeom>
          <a:solidFill>
            <a:srgbClr val="5A7FA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6032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Workspace Setup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1A8"/>
                </a:solidFill>
              </a:rPr>
              <a:t>5 days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0" y="26700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16%  $6,000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0" y="3429000"/>
            <a:ext cx="4114800" cy="502920"/>
          </a:xfrm>
          <a:prstGeom prst="rect">
            <a:avLst/>
          </a:prstGeom>
          <a:solidFill>
            <a:srgbClr val="DDE8F5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0" y="3429000"/>
            <a:ext cx="288036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3756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Knowledge Xfer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1A8"/>
                </a:solidFill>
              </a:rPr>
              <a:t>3 sess.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0" y="34472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7%  $2,700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840480" y="4206240"/>
            <a:ext cx="4114800" cy="502920"/>
          </a:xfrm>
          <a:prstGeom prst="rect">
            <a:avLst/>
          </a:prstGeom>
          <a:solidFill>
            <a:srgbClr val="DDE8F5"/>
          </a:solidFill>
          <a:ln/>
        </p:spPr>
      </p:sp>
      <p:sp>
        <p:nvSpPr>
          <p:cNvPr id="24" name="Shape 22"/>
          <p:cNvSpPr/>
          <p:nvPr/>
        </p:nvSpPr>
        <p:spPr>
          <a:xfrm>
            <a:off x="3840480" y="4206240"/>
            <a:ext cx="82296" cy="50292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114800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Expenses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434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1A8"/>
                </a:solidFill>
              </a:rPr>
              <a:t>Lump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0" y="42245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2%  $850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617720"/>
            <a:ext cx="8229600" cy="36576"/>
          </a:xfrm>
          <a:prstGeom prst="rect">
            <a:avLst/>
          </a:prstGeom>
          <a:solidFill>
            <a:srgbClr val="5A7FA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TOTAL DUE (incl. 8.5% tax):   $38,138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1A8"/>
                </a:solidFill>
              </a:rPr>
              <a:t>Planned milestones for April – June 2025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651760" cy="3429000"/>
          </a:xfrm>
          <a:prstGeom prst="rect">
            <a:avLst/>
          </a:prstGeom>
          <a:solidFill>
            <a:srgbClr val="253D55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25880"/>
            <a:ext cx="2651760" cy="502920"/>
          </a:xfrm>
          <a:prstGeom prst="rect">
            <a:avLst/>
          </a:prstGeom>
          <a:solidFill>
            <a:srgbClr val="2CA58D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April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Real-time streaming pipeline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Delta Live Tables migration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2651760" cy="3429000"/>
          </a:xfrm>
          <a:prstGeom prst="rect">
            <a:avLst/>
          </a:prstGeom>
          <a:solidFill>
            <a:srgbClr val="253D55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325880"/>
            <a:ext cx="2651760" cy="502920"/>
          </a:xfrm>
          <a:prstGeom prst="rect">
            <a:avLst/>
          </a:prstGeom>
          <a:solidFill>
            <a:srgbClr val="5A7FA8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Feature Store integration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AutoML baseline experiments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325880"/>
            <a:ext cx="2651760" cy="3429000"/>
          </a:xfrm>
          <a:prstGeom prst="rect">
            <a:avLst/>
          </a:prstGeom>
          <a:solidFill>
            <a:srgbClr val="253D55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325880"/>
            <a:ext cx="2651760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June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Production model monitoring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0" y="2560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Q2 review &amp; retrospective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TechCorp Solutions – Q1 2025 Engagement Review</dc:title>
  <dc:subject>PptxGenJS Presentation</dc:subject>
  <dc:creator>PptxGenJS</dc:creator>
  <cp:lastModifiedBy>PptxGenJS</cp:lastModifiedBy>
  <cp:revision>1</cp:revision>
  <dcterms:created xsi:type="dcterms:W3CDTF">2026-03-03T12:50:03Z</dcterms:created>
  <dcterms:modified xsi:type="dcterms:W3CDTF">2026-03-03T12:50:03Z</dcterms:modified>
</cp:coreProperties>
</file>